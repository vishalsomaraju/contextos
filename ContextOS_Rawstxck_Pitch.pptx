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2" d="100"/>
          <a:sy n="92" d="100"/>
        </p:scale>
        <p:origin x="66" y="11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13323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Hook: the phone isn't missing data. It's missing the layer that acts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Land the one-liner slowly. Everything after this is proof.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the line, then go straight into the live demo.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57200"/>
            <a:ext cx="84673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iQOO HACKATHON 2026  ·  HYDERABAD CITY BATTLE  ·  PRODUCTIVITY TRACK  ·  STUDENT TEAM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07867" y="5481205"/>
            <a:ext cx="1813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kern="0" spc="200" dirty="0">
                <a:solidFill>
                  <a:srgbClr val="8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RAWSTXCK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234440"/>
            <a:ext cx="8138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5400"/>
              </a:lnSpc>
              <a:buNone/>
            </a:pPr>
            <a:r>
              <a:rPr lang="en-US" sz="50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phone already</a:t>
            </a:r>
            <a:endParaRPr lang="en-US" sz="5000" dirty="0"/>
          </a:p>
          <a:p>
            <a:pPr marL="0" indent="0">
              <a:lnSpc>
                <a:spcPts val="5400"/>
              </a:lnSpc>
              <a:buNone/>
            </a:pPr>
            <a:r>
              <a:rPr lang="en-US" sz="50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has the context.</a:t>
            </a:r>
            <a:endParaRPr lang="en-US" sz="50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2926080"/>
            <a:ext cx="81381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kern="0" spc="-80" dirty="0">
                <a:solidFill>
                  <a:srgbClr val="D7F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But it still waits to be told.</a:t>
            </a:r>
            <a:endParaRPr lang="en-US" sz="5000" dirty="0"/>
          </a:p>
        </p:txBody>
      </p:sp>
      <p:sp>
        <p:nvSpPr>
          <p:cNvPr id="6" name="Shape 4"/>
          <p:cNvSpPr/>
          <p:nvPr/>
        </p:nvSpPr>
        <p:spPr>
          <a:xfrm>
            <a:off x="658368" y="3977640"/>
            <a:ext cx="54864" cy="1005840"/>
          </a:xfrm>
          <a:prstGeom prst="rect">
            <a:avLst/>
          </a:prstGeom>
          <a:solidFill>
            <a:srgbClr val="D7F25A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914400" y="3950208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ContextOS</a:t>
            </a:r>
            <a:endParaRPr lang="en-US" sz="2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4434840"/>
            <a:ext cx="6217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proactive, on device AI agent that understands, anticipates and acts.</a:t>
            </a:r>
            <a:endParaRPr lang="en-US" sz="1500" dirty="0"/>
          </a:p>
        </p:txBody>
      </p:sp>
      <p:sp>
        <p:nvSpPr>
          <p:cNvPr id="9" name="Text 7"/>
          <p:cNvSpPr txBox="1"/>
          <p:nvPr/>
        </p:nvSpPr>
        <p:spPr>
          <a:xfrm>
            <a:off x="713232" y="58027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kern="0" spc="100" dirty="0">
                <a:solidFill>
                  <a:srgbClr val="6C727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Vishal Somaraju  ·  B. Sai Hitesh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595360" y="1234440"/>
            <a:ext cx="2926080" cy="4160520"/>
          </a:xfrm>
          <a:prstGeom prst="roundRect">
            <a:avLst>
              <a:gd name="adj" fmla="val 3125"/>
            </a:avLst>
          </a:prstGeom>
          <a:solidFill>
            <a:srgbClr val="16181E"/>
          </a:solidFill>
          <a:ln w="12700">
            <a:solidFill>
              <a:srgbClr val="23262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887968" y="1655064"/>
            <a:ext cx="100584" cy="100584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125712" y="1572768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8DB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887968" y="2130552"/>
            <a:ext cx="100584" cy="100584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125712" y="2048256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8DB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887968" y="2606040"/>
            <a:ext cx="100584" cy="100584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125712" y="2523744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8DB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MOTION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887968" y="3081528"/>
            <a:ext cx="100584" cy="100584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125712" y="299923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8DBE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LOCATION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8595360" y="35295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525E"/>
                </a:solidFill>
              </a:rPr>
              <a:t>▼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887968" y="3822192"/>
            <a:ext cx="2340864" cy="548640"/>
          </a:xfrm>
          <a:prstGeom prst="roundRect">
            <a:avLst>
              <a:gd name="adj" fmla="val 10000"/>
            </a:avLst>
          </a:prstGeom>
          <a:solidFill>
            <a:srgbClr val="D7F25A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8887968" y="3822192"/>
            <a:ext cx="234086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kern="0" spc="100" dirty="0">
                <a:solidFill>
                  <a:srgbClr val="0B0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 ENGINE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8595360" y="4407408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4C525E"/>
                </a:solidFill>
              </a:rPr>
              <a:t>▼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8887968" y="4709160"/>
            <a:ext cx="234086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kern="0" spc="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ACTION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01  /  THE PROBLEM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914400"/>
            <a:ext cx="777240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200"/>
              </a:lnSpc>
              <a:buNone/>
            </a:pPr>
            <a:r>
              <a:rPr lang="en-US" sz="38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Phones wait for commands.</a:t>
            </a:r>
            <a:endParaRPr lang="en-US" sz="3800" dirty="0"/>
          </a:p>
          <a:p>
            <a:pPr marL="0" indent="0">
              <a:lnSpc>
                <a:spcPts val="4200"/>
              </a:lnSpc>
              <a:buNone/>
            </a:pPr>
            <a:r>
              <a:rPr lang="en-US" sz="38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Life doesn't.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2402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assistant runs the same loop: open it, phrase a command, wait. People don't speak in commands. They speak in intent.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3246120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16181E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886968" y="3246120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A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meet tomorrow at five.”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658368" y="3813048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16181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86968" y="3813048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A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let me forget the project review.”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4379976"/>
            <a:ext cx="5669280" cy="457200"/>
          </a:xfrm>
          <a:prstGeom prst="roundRect">
            <a:avLst>
              <a:gd name="adj" fmla="val 12000"/>
            </a:avLst>
          </a:prstGeom>
          <a:solidFill>
            <a:srgbClr val="16181E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86968" y="4379976"/>
            <a:ext cx="5394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A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“I need to submit this before Monday.”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5029200"/>
            <a:ext cx="5669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kern="0" spc="50" dirty="0">
                <a:solidFill>
                  <a:srgbClr val="8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Zero of them contain the words “create a reminder.”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0" y="2331720"/>
            <a:ext cx="4663440" cy="3017520"/>
          </a:xfrm>
          <a:prstGeom prst="roundRect">
            <a:avLst>
              <a:gd name="adj" fmla="val 3636"/>
            </a:avLst>
          </a:prstGeom>
          <a:solidFill>
            <a:srgbClr val="D7F25A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178040" y="26060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3E4A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SOLUTION, IN ONE LINE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7178040" y="3017520"/>
            <a:ext cx="4023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900"/>
              </a:lnSpc>
              <a:buNone/>
            </a:pPr>
            <a:r>
              <a:rPr lang="en-US" sz="21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on device agent that understands your context and takes action when it has enough information, even when you can’t explicitly ask it.</a:t>
            </a:r>
            <a:endParaRPr lang="en-US" sz="21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0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02  /  BREAKING THE PROBLEM DOWN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4124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gaps, one missing layer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44752"/>
            <a:ext cx="8686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E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gap costs something different, and together they explain why phones feel reactive.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" y="1901952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E4E3DB"/>
          </a:solidFill>
          <a:ln w="12700">
            <a:solidFill>
              <a:srgbClr val="D3D2CA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932688" y="21214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01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932688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intent gap</a:t>
            </a:r>
            <a:endParaRPr lang="en-US" sz="2100" dirty="0"/>
          </a:p>
        </p:txBody>
      </p:sp>
      <p:sp>
        <p:nvSpPr>
          <p:cNvPr id="8" name="Shape 6"/>
          <p:cNvSpPr/>
          <p:nvPr/>
        </p:nvSpPr>
        <p:spPr>
          <a:xfrm>
            <a:off x="932688" y="2962656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932688" y="296265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4A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Speech  →  Task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932688" y="349300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state a commitment out loud. Converting it into a task is manual work the user has to remember to do, so commitments quietly fall through.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932688" y="4892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Cost: forgotten commitments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343400" y="1901952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E4E3DB"/>
          </a:solidFill>
          <a:ln w="12700">
            <a:solidFill>
              <a:srgbClr val="D3D2CA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21214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02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context gap</a:t>
            </a:r>
            <a:endParaRPr lang="en-US" sz="2100" dirty="0"/>
          </a:p>
        </p:txBody>
      </p:sp>
      <p:sp>
        <p:nvSpPr>
          <p:cNvPr id="15" name="Shape 13"/>
          <p:cNvSpPr/>
          <p:nvPr/>
        </p:nvSpPr>
        <p:spPr>
          <a:xfrm>
            <a:off x="4617720" y="2962656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617720" y="296265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3E4A0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Signals  →  Reasoning</a:t>
            </a:r>
            <a:endParaRPr lang="en-US" sz="125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49300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Voice, notifications, calendar, location and motion already exist on the device. Each sits in a separate app, and no layer reads them together.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4617720" y="4892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Cost: fragmented signals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028432" y="1901952"/>
            <a:ext cx="3429000" cy="352044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9050">
            <a:solidFill>
              <a:srgbClr val="FF5A52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02752" y="2121408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GAP 03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8302752" y="2450592"/>
            <a:ext cx="2880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emergency gap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8302752" y="2962656"/>
            <a:ext cx="2880360" cy="384048"/>
          </a:xfrm>
          <a:prstGeom prst="roundRect">
            <a:avLst>
              <a:gd name="adj" fmla="val 11905"/>
            </a:avLst>
          </a:prstGeom>
          <a:solidFill>
            <a:srgbClr val="FFEAEA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302752" y="2962656"/>
            <a:ext cx="2880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 →  Response</a:t>
            </a:r>
            <a:endParaRPr lang="en-US" sz="1250" dirty="0"/>
          </a:p>
        </p:txBody>
      </p:sp>
      <p:sp>
        <p:nvSpPr>
          <p:cNvPr id="24" name="Text 22"/>
          <p:cNvSpPr txBox="1"/>
          <p:nvPr/>
        </p:nvSpPr>
        <p:spPr>
          <a:xfrm>
            <a:off x="8302752" y="3493008"/>
            <a:ext cx="288036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SOS feature assumes you can reach your phone and press something. That assumption breaks in exactly the moment it matters most.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4892040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Cost: help never gets asked for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658368" y="562356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signals are already on the phone. The intelligence that connects them is not.</a:t>
            </a:r>
            <a:endParaRPr lang="en-US" sz="17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0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03  /  WHAT ALREADY EXISTS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41248"/>
            <a:ext cx="9601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pieces exist. The connection doesn't.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81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claiming a category nobody has entered. We are claiming the layer nobody has joined up.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057400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E4E3D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2203704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Voice assistants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3721608" y="2203704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Siri, Google Assistant, Alexa-class systems. Excellent at executing an explicit instruction.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8430768" y="2313432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8540496" y="2313432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needs you to issue the command.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58368" y="3227832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E4E3D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78408" y="3374136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Phone agents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3721608" y="3374136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Multi-step task agents on-device: PhoneOS AI from the Bengaluru round is a strong example.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430768" y="3483864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540496" y="3483864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Powerful, but still triggered, not proactive.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58368" y="4398264"/>
            <a:ext cx="10872216" cy="1005840"/>
          </a:xfrm>
          <a:prstGeom prst="roundRect">
            <a:avLst>
              <a:gd name="adj" fmla="val 7273"/>
            </a:avLst>
          </a:prstGeom>
          <a:solidFill>
            <a:srgbClr val="E4E3D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78408" y="4544568"/>
            <a:ext cx="26517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apps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721608" y="4544568"/>
            <a:ext cx="4480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Scream detection, shake-to-alert, geofences, route deviation, live location sharing.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8430768" y="4654296"/>
            <a:ext cx="2834640" cy="50292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540496" y="4654296"/>
            <a:ext cx="261518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Single-signal, single-purpose, usually cloud-tied.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58368" y="5577840"/>
            <a:ext cx="10872216" cy="566928"/>
          </a:xfrm>
          <a:prstGeom prst="roundRect">
            <a:avLst>
              <a:gd name="adj" fmla="val 12903"/>
            </a:avLst>
          </a:prstGeom>
          <a:solidFill>
            <a:srgbClr val="0B0C0F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78408" y="5577840"/>
            <a:ext cx="10241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D7F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Nobody is missing the parts. Everybody is missing one engine that reads them together.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04  /  OUR APPROACH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41248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Context  →  Reasoning  →  Action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536192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local context engine. Three input paths in, two decision engines out: the same intelligence serving productivity and safety.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58368" y="2103120"/>
            <a:ext cx="2487168" cy="749808"/>
          </a:xfrm>
          <a:prstGeom prst="roundRect">
            <a:avLst>
              <a:gd name="adj" fmla="val 9756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59536" y="2221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VOICE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859536" y="2478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speech → text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401568" y="2103120"/>
            <a:ext cx="2487168" cy="749808"/>
          </a:xfrm>
          <a:prstGeom prst="roundRect">
            <a:avLst>
              <a:gd name="adj" fmla="val 9756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602736" y="2221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NOTIFICATIONS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602736" y="2478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Listener service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44768" y="2103120"/>
            <a:ext cx="2487168" cy="749808"/>
          </a:xfrm>
          <a:prstGeom prst="roundRect">
            <a:avLst>
              <a:gd name="adj" fmla="val 9756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345936" y="222199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SENSORS</a:t>
            </a:r>
            <a:endParaRPr lang="en-US" sz="1050" dirty="0"/>
          </a:p>
        </p:txBody>
      </p:sp>
      <p:sp>
        <p:nvSpPr>
          <p:cNvPr id="13" name="Text 11"/>
          <p:cNvSpPr txBox="1"/>
          <p:nvPr/>
        </p:nvSpPr>
        <p:spPr>
          <a:xfrm>
            <a:off x="6345936" y="2478024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· motion · GPS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658368" y="2926080"/>
            <a:ext cx="7973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525E"/>
                </a:solidFill>
              </a:rPr>
              <a:t>▼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58368" y="3227832"/>
            <a:ext cx="7973568" cy="749808"/>
          </a:xfrm>
          <a:prstGeom prst="roundRect">
            <a:avLst>
              <a:gd name="adj" fmla="val 9756"/>
            </a:avLst>
          </a:prstGeom>
          <a:solidFill>
            <a:srgbClr val="D7F25A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58368" y="3227832"/>
            <a:ext cx="56692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kern="0" spc="200" dirty="0">
                <a:solidFill>
                  <a:srgbClr val="0B0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CONTEXT ENGINE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327648" y="3227832"/>
            <a:ext cx="21031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050" dirty="0">
                <a:solidFill>
                  <a:srgbClr val="4A541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runs on-device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" y="4069080"/>
            <a:ext cx="79735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C525E"/>
                </a:solidFill>
              </a:rPr>
              <a:t>▼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58368" y="4370832"/>
            <a:ext cx="3849624" cy="1417320"/>
          </a:xfrm>
          <a:prstGeom prst="roundRect">
            <a:avLst>
              <a:gd name="adj" fmla="val 5161"/>
            </a:avLst>
          </a:prstGeom>
          <a:solidFill>
            <a:srgbClr val="16181E"/>
          </a:solidFill>
          <a:ln w="12700">
            <a:solidFill>
              <a:srgbClr val="D7F25A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914400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ENGINE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914400" y="48646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Extracts task, person, date and time, then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a calendar event, reminder or alarm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782312" y="4370832"/>
            <a:ext cx="3849624" cy="1417320"/>
          </a:xfrm>
          <a:prstGeom prst="roundRect">
            <a:avLst>
              <a:gd name="adj" fmla="val 5161"/>
            </a:avLst>
          </a:prstGeom>
          <a:solidFill>
            <a:srgbClr val="16181E"/>
          </a:solidFill>
          <a:ln w="12700">
            <a:solidFill>
              <a:srgbClr val="FF5A52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38344" y="4553712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ENGINE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38344" y="4864608"/>
            <a:ext cx="33832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Fuses distress audio, motion and route into</a:t>
            </a:r>
            <a:endParaRPr lang="en-US" sz="130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safety check, then an escalation if needed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9052560" y="2103120"/>
            <a:ext cx="2478024" cy="3685032"/>
          </a:xfrm>
          <a:prstGeom prst="roundRect">
            <a:avLst>
              <a:gd name="adj" fmla="val 3690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281160" y="233172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RULE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9281160" y="2624328"/>
            <a:ext cx="2057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 on enough context, not on a command.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9281160" y="3749040"/>
            <a:ext cx="82296" cy="82296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9491472" y="365760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491472" y="388620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Acts, then tells you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9281160" y="4425696"/>
            <a:ext cx="82296" cy="82296"/>
          </a:xfrm>
          <a:prstGeom prst="ellipse">
            <a:avLst/>
          </a:prstGeom>
          <a:solidFill>
            <a:srgbClr val="8C93A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9491472" y="43342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C4C9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MEDIUM</a:t>
            </a:r>
            <a:endParaRPr lang="en-US" sz="1050" dirty="0"/>
          </a:p>
        </p:txBody>
      </p:sp>
      <p:sp>
        <p:nvSpPr>
          <p:cNvPr id="33" name="Text 31"/>
          <p:cNvSpPr txBox="1"/>
          <p:nvPr/>
        </p:nvSpPr>
        <p:spPr>
          <a:xfrm>
            <a:off x="9491472" y="4562856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Asks before acting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9281160" y="5102352"/>
            <a:ext cx="82296" cy="82296"/>
          </a:xfrm>
          <a:prstGeom prst="ellipse">
            <a:avLst/>
          </a:prstGeom>
          <a:solidFill>
            <a:srgbClr val="4C525E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9491472" y="50109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9491472" y="523951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Stays silent</a:t>
            </a:r>
            <a:endParaRPr lang="en-US" sz="1200" dirty="0"/>
          </a:p>
        </p:txBody>
      </p:sp>
      <p:sp>
        <p:nvSpPr>
          <p:cNvPr id="37" name="Text 35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05  /  THE SAME ENGINE, THREE PROOFS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412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actually does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658368" y="169164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32688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7F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2400" dirty="0"/>
          </a:p>
        </p:txBody>
      </p:sp>
      <p:sp>
        <p:nvSpPr>
          <p:cNvPr id="6" name="Text 4"/>
          <p:cNvSpPr txBox="1"/>
          <p:nvPr/>
        </p:nvSpPr>
        <p:spPr>
          <a:xfrm>
            <a:off x="932688" y="2331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Intent → Action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932688" y="2761488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1F232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069848" y="27614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A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“Let's meet Rahul tomorrow at 5.”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932688" y="3749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Speech → local STT → intent + entities → calendar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932688" y="4590288"/>
            <a:ext cx="2880360" cy="18288"/>
          </a:xfrm>
          <a:prstGeom prst="rect">
            <a:avLst/>
          </a:prstGeom>
          <a:solidFill>
            <a:srgbClr val="2B2F3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32688" y="47091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D7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Meet Rahul  ·  Tomorrow 17:00  ·  conf 0.96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343400" y="169164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617720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D7F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2400" dirty="0"/>
          </a:p>
        </p:txBody>
      </p:sp>
      <p:sp>
        <p:nvSpPr>
          <p:cNvPr id="14" name="Text 12"/>
          <p:cNvSpPr txBox="1"/>
          <p:nvPr/>
        </p:nvSpPr>
        <p:spPr>
          <a:xfrm>
            <a:off x="4617720" y="2331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Notification → Action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4617720" y="2761488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1F232B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4754880" y="27614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A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“Don't forget, our project review is tomorrow at 11.”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4617720" y="3749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Permitted app → local parse → commitment detected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617720" y="4590288"/>
            <a:ext cx="2880360" cy="18288"/>
          </a:xfrm>
          <a:prstGeom prst="rect">
            <a:avLst/>
          </a:prstGeom>
          <a:solidFill>
            <a:srgbClr val="2B2F38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4617720" y="47091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D7F2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review  ·  Tomorrow 11:00  ·  proposed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8028432" y="1691640"/>
            <a:ext cx="3429000" cy="3840480"/>
          </a:xfrm>
          <a:prstGeom prst="roundRect">
            <a:avLst>
              <a:gd name="adj" fmla="val 2667"/>
            </a:avLst>
          </a:prstGeom>
          <a:solidFill>
            <a:srgbClr val="16181E"/>
          </a:solidFill>
          <a:ln w="12700">
            <a:solidFill>
              <a:srgbClr val="4A232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02752" y="1901952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5A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8302752" y="2331720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 → Safety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8302752" y="2761488"/>
            <a:ext cx="2880360" cy="868680"/>
          </a:xfrm>
          <a:prstGeom prst="roundRect">
            <a:avLst>
              <a:gd name="adj" fmla="val 6316"/>
            </a:avLst>
          </a:prstGeom>
          <a:solidFill>
            <a:srgbClr val="1F232B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8439912" y="2761488"/>
            <a:ext cx="2606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DADDE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Distress audio + sudden motion + route deviation + no reply</a:t>
            </a:r>
            <a:endParaRPr lang="en-US" sz="1300" dirty="0"/>
          </a:p>
        </p:txBody>
      </p:sp>
      <p:sp>
        <p:nvSpPr>
          <p:cNvPr id="25" name="Text 23"/>
          <p:cNvSpPr txBox="1"/>
          <p:nvPr/>
        </p:nvSpPr>
        <p:spPr>
          <a:xfrm>
            <a:off x="8302752" y="3749040"/>
            <a:ext cx="2880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8C93A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Signal fusion → safety check → escalate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8302752" y="4590288"/>
            <a:ext cx="2880360" cy="18288"/>
          </a:xfrm>
          <a:prstGeom prst="rect">
            <a:avLst/>
          </a:prstGeom>
          <a:solidFill>
            <a:srgbClr val="2B2F38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8302752" y="4709160"/>
            <a:ext cx="2880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FF5A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Trusted contact  ·  live location  ·  trigger log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658368" y="576072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features are not three products. They are one context engine, demonstrated three times.</a:t>
            </a:r>
            <a:endParaRPr lang="en-US" sz="1600" dirty="0"/>
          </a:p>
        </p:txBody>
      </p:sp>
      <p:sp>
        <p:nvSpPr>
          <p:cNvPr id="29" name="Text 27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0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06  /  WHAT MAKES OUR APPROACH DIFFERENT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4124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signals. Different architecture.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9418320" y="1572768"/>
            <a:ext cx="2103120" cy="3822192"/>
          </a:xfrm>
          <a:prstGeom prst="roundRect">
            <a:avLst>
              <a:gd name="adj" fmla="val 3478"/>
            </a:avLst>
          </a:prstGeom>
          <a:solidFill>
            <a:srgbClr val="0B0C0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58368" y="166420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ASSISTANT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SAFETY APP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9509760" y="1664208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58368" y="2066544"/>
            <a:ext cx="8686800" cy="420624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841248" y="2103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Understands implicit intent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9509760" y="2103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560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notification context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03504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9509760" y="2560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2980944"/>
            <a:ext cx="8686800" cy="420624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1248" y="30175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Acts without being asked</a:t>
            </a:r>
            <a:endParaRPr lang="en-US" sz="1350" dirty="0"/>
          </a:p>
        </p:txBody>
      </p:sp>
      <p:sp>
        <p:nvSpPr>
          <p:cNvPr id="20" name="Text 18"/>
          <p:cNvSpPr txBox="1"/>
          <p:nvPr/>
        </p:nvSpPr>
        <p:spPr>
          <a:xfrm>
            <a:off x="603504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1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9509760" y="30175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841248" y="34747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Multi-signal sensor fusion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77240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0" y="34747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658368" y="3895344"/>
            <a:ext cx="8686800" cy="420624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841248" y="39319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Reasons across signals before alerting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603504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30" name="Text 28"/>
          <p:cNvSpPr txBox="1"/>
          <p:nvPr/>
        </p:nvSpPr>
        <p:spPr>
          <a:xfrm>
            <a:off x="777240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9509760" y="39319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32" name="Text 30"/>
          <p:cNvSpPr txBox="1"/>
          <p:nvPr/>
        </p:nvSpPr>
        <p:spPr>
          <a:xfrm>
            <a:off x="841248" y="43891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 on-device, no cloud dependency</a:t>
            </a:r>
            <a:endParaRPr lang="en-US" sz="1350" dirty="0"/>
          </a:p>
        </p:txBody>
      </p:sp>
      <p:sp>
        <p:nvSpPr>
          <p:cNvPr id="33" name="Text 31"/>
          <p:cNvSpPr txBox="1"/>
          <p:nvPr/>
        </p:nvSpPr>
        <p:spPr>
          <a:xfrm>
            <a:off x="6035040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7772400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E71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Partial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9509760" y="43891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58368" y="4809744"/>
            <a:ext cx="8686800" cy="420624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41248" y="484632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engine for productivity and safety</a:t>
            </a:r>
            <a:endParaRPr lang="en-US" sz="1350" dirty="0"/>
          </a:p>
        </p:txBody>
      </p:sp>
      <p:sp>
        <p:nvSpPr>
          <p:cNvPr id="38" name="Text 36"/>
          <p:cNvSpPr txBox="1"/>
          <p:nvPr/>
        </p:nvSpPr>
        <p:spPr>
          <a:xfrm>
            <a:off x="603504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777240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None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9509760" y="484632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b="1" kern="0" spc="1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Core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58368" y="5541264"/>
            <a:ext cx="10872216" cy="640080"/>
          </a:xfrm>
          <a:prstGeom prst="roundRect">
            <a:avLst>
              <a:gd name="adj" fmla="val 11429"/>
            </a:avLst>
          </a:prstGeom>
          <a:solidFill>
            <a:srgbClr val="D7F25A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78408" y="5541264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Others bolt features together. We run one context engine, so every new signal makes every feature smarter.</a:t>
            </a:r>
            <a:endParaRPr lang="en-US" sz="1600" dirty="0"/>
          </a:p>
        </p:txBody>
      </p:sp>
      <p:sp>
        <p:nvSpPr>
          <p:cNvPr id="43" name="Text 41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0B0C0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07  /  FEASIBILITY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41248"/>
            <a:ext cx="9144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on APIs that already ship</a:t>
            </a:r>
            <a:endParaRPr lang="en-US" sz="38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148132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62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scoped MVP built around APIs Android already supports.</a:t>
            </a:r>
            <a:endParaRPr lang="en-US" sz="1500" dirty="0"/>
          </a:p>
        </p:txBody>
      </p:sp>
      <p:sp>
        <p:nvSpPr>
          <p:cNvPr id="5" name="Text 3"/>
          <p:cNvSpPr txBox="1"/>
          <p:nvPr/>
        </p:nvSpPr>
        <p:spPr>
          <a:xfrm>
            <a:off x="658368" y="19659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CAPABILITY</a:t>
            </a:r>
            <a:endParaRPr lang="en-US" sz="1000" dirty="0"/>
          </a:p>
        </p:txBody>
      </p:sp>
      <p:sp>
        <p:nvSpPr>
          <p:cNvPr id="6" name="Text 4"/>
          <p:cNvSpPr txBox="1"/>
          <p:nvPr/>
        </p:nvSpPr>
        <p:spPr>
          <a:xfrm>
            <a:off x="4864608" y="196596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5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IMPLEMENTATION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58368" y="2286000"/>
            <a:ext cx="7571232" cy="457200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795528" y="233172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→ reminder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4864608" y="233172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2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CalendarContract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795528" y="283006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 detection</a:t>
            </a:r>
            <a:endParaRPr lang="en-US" sz="1350" dirty="0"/>
          </a:p>
        </p:txBody>
      </p:sp>
      <p:sp>
        <p:nvSpPr>
          <p:cNvPr id="11" name="Text 9"/>
          <p:cNvSpPr txBox="1"/>
          <p:nvPr/>
        </p:nvSpPr>
        <p:spPr>
          <a:xfrm>
            <a:off x="4864608" y="283006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2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SensorManager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58368" y="3282696"/>
            <a:ext cx="7571232" cy="457200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95528" y="3328416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→ intent</a:t>
            </a:r>
            <a:endParaRPr lang="en-US" sz="1350" dirty="0"/>
          </a:p>
        </p:txBody>
      </p:sp>
      <p:sp>
        <p:nvSpPr>
          <p:cNvPr id="14" name="Text 12"/>
          <p:cNvSpPr txBox="1"/>
          <p:nvPr/>
        </p:nvSpPr>
        <p:spPr>
          <a:xfrm>
            <a:off x="4864608" y="3328416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2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Local speech-to-text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795528" y="3826764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 context</a:t>
            </a:r>
            <a:endParaRPr lang="en-US" sz="1350" dirty="0"/>
          </a:p>
        </p:txBody>
      </p:sp>
      <p:sp>
        <p:nvSpPr>
          <p:cNvPr id="16" name="Text 14"/>
          <p:cNvSpPr txBox="1"/>
          <p:nvPr/>
        </p:nvSpPr>
        <p:spPr>
          <a:xfrm>
            <a:off x="4864608" y="3826764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2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NotificationListenerService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58368" y="4279392"/>
            <a:ext cx="7571232" cy="457200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95528" y="432511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4864608" y="4325112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2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Geofencing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795528" y="4823460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Safety fusion</a:t>
            </a:r>
            <a:endParaRPr lang="en-US" sz="1350" dirty="0"/>
          </a:p>
        </p:txBody>
      </p:sp>
      <p:sp>
        <p:nvSpPr>
          <p:cNvPr id="21" name="Text 19"/>
          <p:cNvSpPr txBox="1"/>
          <p:nvPr/>
        </p:nvSpPr>
        <p:spPr>
          <a:xfrm>
            <a:off x="4864608" y="4823460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2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Audio + sensors + risk engine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58368" y="5276088"/>
            <a:ext cx="7571232" cy="457200"/>
          </a:xfrm>
          <a:prstGeom prst="rect">
            <a:avLst/>
          </a:prstGeom>
          <a:solidFill>
            <a:srgbClr val="E4E3DB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795528" y="5321808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2C2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AI</a:t>
            </a:r>
            <a:endParaRPr lang="en-US" sz="13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5321808"/>
            <a:ext cx="3200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E6269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Quantized on-device model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8485632" y="2101456"/>
            <a:ext cx="3044952" cy="1949336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9050">
            <a:solidFill>
              <a:srgbClr val="FF5A52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741664" y="2212848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F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ONE HARD PART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741664" y="251460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0C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Background microphone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8741664" y="2871216"/>
            <a:ext cx="2560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Modern Android restricts background mic and service starts. Our answer is an explicit, user-enabled Safety Mode with a visible foreground service: a privacy feature, not a workaround.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8485632" y="4177144"/>
            <a:ext cx="3044952" cy="1787237"/>
          </a:xfrm>
          <a:prstGeom prst="roundRect">
            <a:avLst>
              <a:gd name="adj" fmla="val 5128"/>
            </a:avLst>
          </a:prstGeom>
          <a:solidFill>
            <a:srgbClr val="E4E3DB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8741664" y="429768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8A8C85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RISK CONTROLS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759952" y="4700016"/>
            <a:ext cx="73152" cy="73152"/>
          </a:xfrm>
          <a:prstGeom prst="ellipse">
            <a:avLst/>
          </a:prstGeom>
          <a:solidFill>
            <a:srgbClr val="6C8C1F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8942832" y="462686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False alarms → fusion + “I'm safe” countdown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8759952" y="5020056"/>
            <a:ext cx="73152" cy="73152"/>
          </a:xfrm>
          <a:prstGeom prst="ellipse">
            <a:avLst/>
          </a:prstGeom>
          <a:solidFill>
            <a:srgbClr val="6C8C1F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942832" y="494690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Wrong reminders → confidence thresholds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8759952" y="5340096"/>
            <a:ext cx="73152" cy="73152"/>
          </a:xfrm>
          <a:prstGeom prst="ellipse">
            <a:avLst/>
          </a:prstGeom>
          <a:solidFill>
            <a:srgbClr val="6C8C1F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8942832" y="526694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Battery → LLM runs only on trigger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759952" y="5660136"/>
            <a:ext cx="73152" cy="73152"/>
          </a:xfrm>
          <a:prstGeom prst="ellipse">
            <a:avLst/>
          </a:prstGeom>
          <a:solidFill>
            <a:srgbClr val="6C8C1F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942832" y="5586984"/>
            <a:ext cx="24505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4447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network → core loop runs locally</a:t>
            </a:r>
            <a:endParaRPr lang="en-US" sz="1150" dirty="0"/>
          </a:p>
        </p:txBody>
      </p:sp>
      <p:sp>
        <p:nvSpPr>
          <p:cNvPr id="39" name="Text 37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9A9C9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08  /  IMPLEMENTATION PLAN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841248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800" b="1" kern="0" spc="-5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 hours, scoped to ship</a:t>
            </a:r>
            <a:endParaRPr lang="en-US" sz="3800" dirty="0"/>
          </a:p>
        </p:txBody>
      </p:sp>
      <p:sp>
        <p:nvSpPr>
          <p:cNvPr id="4" name="Shape 2"/>
          <p:cNvSpPr/>
          <p:nvPr/>
        </p:nvSpPr>
        <p:spPr>
          <a:xfrm>
            <a:off x="704088" y="1874520"/>
            <a:ext cx="18288" cy="3246120"/>
          </a:xfrm>
          <a:prstGeom prst="rect">
            <a:avLst/>
          </a:prstGeom>
          <a:solidFill>
            <a:srgbClr val="2B2F38"/>
          </a:solidFill>
          <a:ln/>
        </p:spPr>
      </p:sp>
      <p:sp>
        <p:nvSpPr>
          <p:cNvPr id="5" name="Shape 3"/>
          <p:cNvSpPr/>
          <p:nvPr/>
        </p:nvSpPr>
        <p:spPr>
          <a:xfrm>
            <a:off x="658368" y="1956816"/>
            <a:ext cx="109728" cy="109728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78408" y="182880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H0–06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075688" y="182880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Foundation</a:t>
            </a:r>
            <a:endParaRPr lang="en-US" sz="1500" dirty="0"/>
          </a:p>
        </p:txBody>
      </p:sp>
      <p:sp>
        <p:nvSpPr>
          <p:cNvPr id="8" name="Text 6"/>
          <p:cNvSpPr txBox="1"/>
          <p:nvPr/>
        </p:nvSpPr>
        <p:spPr>
          <a:xfrm>
            <a:off x="4041648" y="1810512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Kotlin app shell, permissions, local DB, speech → intent → calendar working end to end.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58368" y="2615184"/>
            <a:ext cx="109728" cy="109728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78408" y="2487168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H06–14</a:t>
            </a:r>
            <a:endParaRPr lang="en-US" sz="1100" dirty="0"/>
          </a:p>
        </p:txBody>
      </p:sp>
      <p:sp>
        <p:nvSpPr>
          <p:cNvPr id="11" name="Text 9"/>
          <p:cNvSpPr txBox="1"/>
          <p:nvPr/>
        </p:nvSpPr>
        <p:spPr>
          <a:xfrm>
            <a:off x="2075688" y="248716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context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4041648" y="2468880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NotificationListenerService, app allow-list, commitment parsing, confidence gating.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58368" y="3273552"/>
            <a:ext cx="109728" cy="109728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78408" y="314553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H14–22</a:t>
            </a:r>
            <a:endParaRPr lang="en-US" sz="1100" dirty="0"/>
          </a:p>
        </p:txBody>
      </p:sp>
      <p:sp>
        <p:nvSpPr>
          <p:cNvPr id="15" name="Text 13"/>
          <p:cNvSpPr txBox="1"/>
          <p:nvPr/>
        </p:nvSpPr>
        <p:spPr>
          <a:xfrm>
            <a:off x="2075688" y="3145536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Physical context</a:t>
            </a:r>
            <a:endParaRPr lang="en-US" sz="1500" dirty="0"/>
          </a:p>
        </p:txBody>
      </p:sp>
      <p:sp>
        <p:nvSpPr>
          <p:cNvPr id="16" name="Text 14"/>
          <p:cNvSpPr txBox="1"/>
          <p:nvPr/>
        </p:nvSpPr>
        <p:spPr>
          <a:xfrm>
            <a:off x="4041648" y="3127248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fusion, distress audio, safety state machine, countdown + trusted-contact escalation.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658368" y="3931920"/>
            <a:ext cx="109728" cy="109728"/>
          </a:xfrm>
          <a:prstGeom prst="ellipse">
            <a:avLst/>
          </a:prstGeom>
          <a:solidFill>
            <a:srgbClr val="D7F25A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978408" y="3803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H22–28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075688" y="3803904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On-device model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4041648" y="3785616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local model for language and date resolution; fallbacks if NPU path underperforms.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658368" y="4590288"/>
            <a:ext cx="109728" cy="109728"/>
          </a:xfrm>
          <a:prstGeom prst="ellipse">
            <a:avLst/>
          </a:prstGeom>
          <a:solidFill>
            <a:srgbClr val="FF5A52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978408" y="4462272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H28–30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2075688" y="4462272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 lock</a:t>
            </a:r>
            <a:endParaRPr lang="en-US" sz="1500" dirty="0"/>
          </a:p>
        </p:txBody>
      </p:sp>
      <p:sp>
        <p:nvSpPr>
          <p:cNvPr id="24" name="Text 22"/>
          <p:cNvSpPr txBox="1"/>
          <p:nvPr/>
        </p:nvSpPr>
        <p:spPr>
          <a:xfrm>
            <a:off x="4041648" y="4443984"/>
            <a:ext cx="4206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50" dirty="0">
                <a:solidFill>
                  <a:srgbClr val="A9AE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scope, rehearse the three-proof run, Office Kit rehearsal for Red Light rounds.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604504" y="1764792"/>
            <a:ext cx="2935224" cy="2002536"/>
          </a:xfrm>
          <a:prstGeom prst="roundRect">
            <a:avLst>
              <a:gd name="adj" fmla="val 4651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8851392" y="193852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kern="0" spc="15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STACK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8837676" y="2212848"/>
            <a:ext cx="24688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Native Android · Kotlin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Room / SQLite, local only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NotificationListenerService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SensorManager + Geofencing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Foreground services</a:t>
            </a:r>
            <a:endParaRPr lang="en-US" sz="1250" dirty="0"/>
          </a:p>
          <a:p>
            <a:pPr marL="0" indent="0">
              <a:lnSpc>
                <a:spcPts val="17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Quantized local model · NPU where supported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595360" y="3931920"/>
            <a:ext cx="2935224" cy="1472184"/>
          </a:xfrm>
          <a:prstGeom prst="roundRect">
            <a:avLst>
              <a:gd name="adj" fmla="val 5263"/>
            </a:avLst>
          </a:prstGeom>
          <a:solidFill>
            <a:srgbClr val="16181E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851392" y="411480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FF5A5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BUILDING THIS WEEKEND</a:t>
            </a:r>
            <a:endParaRPr lang="en-US" sz="1000" dirty="0"/>
          </a:p>
        </p:txBody>
      </p:sp>
      <p:sp>
        <p:nvSpPr>
          <p:cNvPr id="30" name="Text 28"/>
          <p:cNvSpPr txBox="1"/>
          <p:nvPr/>
        </p:nvSpPr>
        <p:spPr>
          <a:xfrm>
            <a:off x="8851392" y="4224528"/>
            <a:ext cx="2468880" cy="10332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General phone automation · shopping and browsing agents · direct police dispatch · 24/7 background listening · cloud backend · custom model training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Phone sensors, notifications and local model inference run directly on your device, with NPU acceleration targeted where supported.</a:t>
            </a:r>
            <a:endParaRPr lang="en-US" sz="1350" dirty="0"/>
          </a:p>
        </p:txBody>
      </p:sp>
      <p:sp>
        <p:nvSpPr>
          <p:cNvPr id="32" name="Text 30"/>
          <p:cNvSpPr txBox="1"/>
          <p:nvPr/>
        </p:nvSpPr>
        <p:spPr>
          <a:xfrm>
            <a:off x="658368" y="632764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kern="0" spc="1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RAWSTXCK  ·  CONTEXTOS</a:t>
            </a:r>
            <a:endParaRPr lang="en-US" sz="900" dirty="0"/>
          </a:p>
        </p:txBody>
      </p:sp>
      <p:sp>
        <p:nvSpPr>
          <p:cNvPr id="33" name="Text 31"/>
          <p:cNvSpPr txBox="1"/>
          <p:nvPr/>
        </p:nvSpPr>
        <p:spPr>
          <a:xfrm>
            <a:off x="10616184" y="6327648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0C0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8368" y="41148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09  /  IN CLOSING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658368" y="1325880"/>
            <a:ext cx="10515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4600"/>
              </a:lnSpc>
              <a:buNone/>
            </a:pPr>
            <a:r>
              <a:rPr lang="en-US" sz="40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Don't make the user</a:t>
            </a:r>
            <a:endParaRPr lang="en-US" sz="4000" dirty="0"/>
          </a:p>
          <a:p>
            <a:pPr marL="0" indent="0">
              <a:lnSpc>
                <a:spcPts val="4600"/>
              </a:lnSpc>
              <a:buNone/>
            </a:pPr>
            <a:r>
              <a:rPr lang="en-US" sz="4000" b="1" kern="0" spc="-8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operate the phone.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58368" y="2743200"/>
            <a:ext cx="10698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kern="0" spc="-80" dirty="0">
                <a:solidFill>
                  <a:srgbClr val="D7F25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Make the phone understand the user.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58368" y="3977640"/>
            <a:ext cx="2468880" cy="18288"/>
          </a:xfrm>
          <a:prstGeom prst="rect">
            <a:avLst/>
          </a:prstGeom>
          <a:solidFill>
            <a:srgbClr val="D7F25A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58368" y="4114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Intent → reminder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01568" y="3977640"/>
            <a:ext cx="2468880" cy="18288"/>
          </a:xfrm>
          <a:prstGeom prst="rect">
            <a:avLst/>
          </a:prstGeom>
          <a:solidFill>
            <a:srgbClr val="D7F25A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401568" y="4114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Notification → action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44768" y="3977640"/>
            <a:ext cx="2468880" cy="18288"/>
          </a:xfrm>
          <a:prstGeom prst="rect">
            <a:avLst/>
          </a:prstGeom>
          <a:solidFill>
            <a:srgbClr val="FF5A5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144768" y="4114800"/>
            <a:ext cx="2514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5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Danger → safety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4800600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dirty="0">
                <a:solidFill>
                  <a:srgbClr val="8C93A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interaction layer for your phone, turning scattered signals into useful decisions, actions and protection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9138804" y="4023359"/>
            <a:ext cx="2391779" cy="1572145"/>
          </a:xfrm>
          <a:prstGeom prst="roundRect">
            <a:avLst>
              <a:gd name="adj" fmla="val 6061"/>
            </a:avLst>
          </a:prstGeom>
          <a:solidFill>
            <a:srgbClr val="16181E"/>
          </a:solidFill>
          <a:ln w="12700">
            <a:solidFill>
              <a:srgbClr val="262A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281160" y="4224528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D7F25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TEAM RAWSTXCK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9281160" y="45262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</a:t>
            </a:r>
            <a:endParaRPr lang="en-US" sz="1250" dirty="0"/>
          </a:p>
          <a:p>
            <a:pPr>
              <a:lnSpc>
                <a:spcPts val="1500"/>
              </a:lnSpc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Vishal Somaraju</a:t>
            </a:r>
            <a:b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endParaRPr lang="en-US" sz="1250" dirty="0"/>
          </a:p>
          <a:p>
            <a:pPr>
              <a:lnSpc>
                <a:spcPts val="1500"/>
              </a:lnSpc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</a:t>
            </a:r>
            <a:endParaRPr lang="en-US" sz="12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250" dirty="0">
                <a:solidFill>
                  <a:srgbClr val="C4C9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 Sai Hitesh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658368" y="5897880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kern="0" spc="100" dirty="0">
                <a:solidFill>
                  <a:srgbClr val="4C525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ContextOS  ·  iQOO Hackathon 2026  ·  Hyderabad City Battle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</TotalTime>
  <Words>1222</Words>
  <Application>Microsoft Office PowerPoint</Application>
  <PresentationFormat>Widescreen</PresentationFormat>
  <Paragraphs>235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ContextOS · Rawstxck | iQOO Hackathon 2026</dc:title>
  <dc:subject>PptxGenJS Presentation</dc:subject>
  <dc:creator>Team Rawstxck</dc:creator>
  <cp:lastModifiedBy>vishal somaraju</cp:lastModifiedBy>
  <cp:revision>5</cp:revision>
  <dcterms:created xsi:type="dcterms:W3CDTF">2026-09-20T17:24:54Z</dcterms:created>
  <dcterms:modified xsi:type="dcterms:W3CDTF">2026-09-20T18:00:31Z</dcterms:modified>
</cp:coreProperties>
</file>